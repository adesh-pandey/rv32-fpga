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>
                <a:solidFill>
                  <a:srgbClr val="94A3B8"/>
                </a:solidFill>
                <a:latin typeface="Calibri"/>
              </a:rPr>
              <a:t>Design &amp; Implementation of a</a:t>
            </a:r>
          </a:p>
          <a:p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60A5FA"/>
                </a:solidFill>
                <a:latin typeface="Calibri"/>
              </a:rPr>
              <a:t>5-Stage Pipelined RV32I Processor</a:t>
            </a:r>
          </a:p>
          <a:p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RISC-V Base Integer Instruction Set in Verilog HDL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3474720"/>
            <a:ext cx="210312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</a:pPr>
            <a:r>
              <a:rPr sz="1400" b="1">
                <a:solidFill>
                  <a:srgbClr val="E2E8F0"/>
                </a:solidFill>
                <a:latin typeface="Calibri"/>
              </a:rPr>
              <a:t>Adesh Pandey</a:t>
            </a:r>
          </a:p>
          <a:p>
            <a:pPr algn="ctr"/>
            <a:r>
              <a:rPr sz="1100">
                <a:solidFill>
                  <a:srgbClr val="60A5FA"/>
                </a:solidFill>
                <a:latin typeface="Consolas"/>
              </a:rPr>
              <a:t>079BEI004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80" y="3474720"/>
            <a:ext cx="210312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</a:pPr>
            <a:r>
              <a:rPr sz="1400" b="1">
                <a:solidFill>
                  <a:srgbClr val="E2E8F0"/>
                </a:solidFill>
                <a:latin typeface="Calibri"/>
              </a:rPr>
              <a:t>Aayush Gelal</a:t>
            </a:r>
          </a:p>
          <a:p>
            <a:pPr algn="ctr"/>
            <a:r>
              <a:rPr sz="1100">
                <a:solidFill>
                  <a:srgbClr val="60A5FA"/>
                </a:solidFill>
                <a:latin typeface="Consolas"/>
              </a:rPr>
              <a:t>079BEI002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3474720"/>
            <a:ext cx="210312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</a:pPr>
            <a:r>
              <a:rPr sz="1400" b="1">
                <a:solidFill>
                  <a:srgbClr val="E2E8F0"/>
                </a:solidFill>
                <a:latin typeface="Calibri"/>
              </a:rPr>
              <a:t>Bishesh Paudel</a:t>
            </a:r>
          </a:p>
          <a:p>
            <a:pPr algn="ctr"/>
            <a:r>
              <a:rPr sz="1100">
                <a:solidFill>
                  <a:srgbClr val="60A5FA"/>
                </a:solidFill>
                <a:latin typeface="Consolas"/>
              </a:rPr>
              <a:t>079BEI016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Tribhuvan University · Institute of Engineering · Pulchowk Campus</a:t>
            </a:r>
          </a:p>
          <a:p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Department of Electronics &amp; Computer Engineering ·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Why RISC-V? Why Pipelining?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RISC-V: The Open Standard 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300" b="1">
                <a:solidFill>
                  <a:srgbClr val="E2E8F0"/>
                </a:solidFill>
                <a:latin typeface="Calibri"/>
              </a:rPr>
              <a:t>  •  Open &amp; free:</a:t>
            </a:r>
            <a:r>
              <a:rPr sz="1300">
                <a:solidFill>
                  <a:srgbClr val="94A3B8"/>
                </a:solidFill>
                <a:latin typeface="Calibri"/>
              </a:rPr>
              <a:t> no licensing fees, unlike ARM or x86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E2E8F0"/>
                </a:solidFill>
                <a:latin typeface="Calibri"/>
              </a:rPr>
              <a:t>  •  Modular design:</a:t>
            </a:r>
            <a:r>
              <a:rPr sz="1300">
                <a:solidFill>
                  <a:srgbClr val="94A3B8"/>
                </a:solidFill>
                <a:latin typeface="Calibri"/>
              </a:rPr>
              <a:t> base integer set (RV32I) + optional extensions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E2E8F0"/>
                </a:solidFill>
                <a:latin typeface="Calibri"/>
              </a:rPr>
              <a:t>  •  Industry adoption:</a:t>
            </a:r>
            <a:r>
              <a:rPr sz="1300">
                <a:solidFill>
                  <a:srgbClr val="94A3B8"/>
                </a:solidFill>
                <a:latin typeface="Calibri"/>
              </a:rPr>
              <a:t> SiFive, Google, NVIDIA, Qualcomm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E2E8F0"/>
                </a:solidFill>
                <a:latin typeface="Calibri"/>
              </a:rPr>
              <a:t>  •  Academic standard:</a:t>
            </a:r>
            <a:r>
              <a:rPr sz="1300">
                <a:solidFill>
                  <a:srgbClr val="94A3B8"/>
                </a:solidFill>
                <a:latin typeface="Calibri"/>
              </a:rPr>
              <a:t> clean ISA ideal for teaching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530352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Why Pipelining?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300" b="1">
                <a:solidFill>
                  <a:srgbClr val="E2E8F0"/>
                </a:solidFill>
                <a:latin typeface="Calibri"/>
              </a:rPr>
              <a:t>  •  Throughput boost:</a:t>
            </a:r>
            <a:r>
              <a:rPr sz="1300">
                <a:solidFill>
                  <a:srgbClr val="94A3B8"/>
                </a:solidFill>
                <a:latin typeface="Calibri"/>
              </a:rPr>
              <a:t> overlap execution of multiple instructions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E2E8F0"/>
                </a:solidFill>
                <a:latin typeface="Calibri"/>
              </a:rPr>
              <a:t>  •  Higher clock speed:</a:t>
            </a:r>
            <a:r>
              <a:rPr sz="1300">
                <a:solidFill>
                  <a:srgbClr val="94A3B8"/>
                </a:solidFill>
                <a:latin typeface="Calibri"/>
              </a:rPr>
              <a:t> shorter critical path per stage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E2E8F0"/>
                </a:solidFill>
                <a:latin typeface="Calibri"/>
              </a:rPr>
              <a:t>  •  Real-world relevance:</a:t>
            </a:r>
            <a:r>
              <a:rPr sz="1300">
                <a:solidFill>
                  <a:srgbClr val="94A3B8"/>
                </a:solidFill>
                <a:latin typeface="Calibri"/>
              </a:rPr>
              <a:t> all modern CPUs are pipelined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48640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3736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  •  Implement full RV32I base instruction set (37 instructions)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  •  Build a 5-stage pipeline with forwarding &amp; hazard detection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  •  Evolve from single-cycle → pipelined architecture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  •  Add performance counters for quantitative analysis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  •  Benchmark with real programs and compare CPI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  •  Extend ISA with custom crypto instruction (ROL)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  •  Verify with comprehensive testbenches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5120640"/>
            <a:ext cx="36576" cy="82296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5120640"/>
            <a:ext cx="5074920" cy="82296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Key Insight: A 5-stage pipeline achieves ~4.4x throughput over single-cycle, despite ~14% CPI penalty. Custom ROL gives 1.35x crypto speedup.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INSTRUCTION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RV32I Base Integer Instructions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2743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37 Instructions 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Calibri"/>
              </a:rPr>
              <a:t>R-Type (Register-Register) — 10 instructions</a:t>
            </a:r>
          </a:p>
          <a:p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ADD  SUB  SLL  SLT  SLTU  XOR  SRL  SRA  OR  AND</a:t>
            </a:r>
          </a:p>
          <a:p/>
          <a:p>
            <a:pPr algn="l">
              <a:spcAft>
                <a:spcPts val="400"/>
              </a:spcAft>
            </a:pPr>
            <a:r>
              <a:rPr sz="600" b="0">
                <a:solidFill>
                  <a:srgbClr val="94A3B8"/>
                </a:solidFill>
                <a:latin typeface="Calibri"/>
              </a:rPr>
              <a:t/>
            </a:r>
          </a:p>
          <a:p/>
          <a:p>
            <a:pPr algn="l">
              <a:spcAft>
                <a:spcPts val="400"/>
              </a:spcAft>
            </a:pPr>
            <a:r>
              <a:rPr sz="1100" b="1">
                <a:solidFill>
                  <a:srgbClr val="A78BFA"/>
                </a:solidFill>
                <a:latin typeface="Calibri"/>
              </a:rPr>
              <a:t>I-Type (Immediate) — 9 instructions</a:t>
            </a:r>
          </a:p>
          <a:p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ADDI  SLTI  SLTIU  XORI  ORI  ANDI  SLLI  SRLI  SRAI</a:t>
            </a:r>
          </a:p>
          <a:p/>
          <a:p>
            <a:pPr algn="l">
              <a:spcAft>
                <a:spcPts val="400"/>
              </a:spcAft>
            </a:pPr>
            <a:r>
              <a:rPr sz="600" b="0">
                <a:solidFill>
                  <a:srgbClr val="94A3B8"/>
                </a:solidFill>
                <a:latin typeface="Calibri"/>
              </a:rPr>
              <a:t/>
            </a:r>
          </a:p>
          <a:p/>
          <a:p>
            <a:pPr algn="l">
              <a:spcAft>
                <a:spcPts val="40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Load / Store — 2 instructions</a:t>
            </a:r>
          </a:p>
          <a:p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LW   SW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2743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Branch, Jump &amp; Upper Immediate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B923C"/>
                </a:solidFill>
                <a:latin typeface="Calibri"/>
              </a:rPr>
              <a:t>B-Type (Branch) — 6 instructions</a:t>
            </a:r>
          </a:p>
          <a:p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BEQ  BNE  BLT  BGE  BLTU  BGEU</a:t>
            </a:r>
          </a:p>
          <a:p/>
          <a:p>
            <a:pPr algn="l">
              <a:spcAft>
                <a:spcPts val="400"/>
              </a:spcAft>
            </a:pPr>
            <a:r>
              <a:rPr sz="600" b="0">
                <a:solidFill>
                  <a:srgbClr val="94A3B8"/>
                </a:solidFill>
                <a:latin typeface="Calibri"/>
              </a:rPr>
              <a:t/>
            </a:r>
          </a:p>
          <a:p/>
          <a:p>
            <a:pPr algn="l">
              <a:spcAft>
                <a:spcPts val="400"/>
              </a:spcAft>
            </a:pPr>
            <a:r>
              <a:rPr sz="1100" b="1">
                <a:solidFill>
                  <a:srgbClr val="EC4899"/>
                </a:solidFill>
                <a:latin typeface="Calibri"/>
              </a:rPr>
              <a:t>J-Type (Jump) — 2 instructions</a:t>
            </a:r>
          </a:p>
          <a:p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JAL   JALR</a:t>
            </a:r>
          </a:p>
          <a:p/>
          <a:p>
            <a:pPr algn="l">
              <a:spcAft>
                <a:spcPts val="400"/>
              </a:spcAft>
            </a:pPr>
            <a:r>
              <a:rPr sz="600" b="0">
                <a:solidFill>
                  <a:srgbClr val="94A3B8"/>
                </a:solidFill>
                <a:latin typeface="Calibri"/>
              </a:rPr>
              <a:t/>
            </a:r>
          </a:p>
          <a:p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U-Type (Upper Immediate) — 2 instructions</a:t>
            </a:r>
          </a:p>
          <a:p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LUI   AUIPC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1106424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Instruction Format Encoding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9160"/>
            <a:ext cx="10698480" cy="146304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31        25 24    20 19    15 14  12 11     7 6      0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R: [ funct7   ] [ rs2  ] [ rs1  ] [f3 ] [ rd    ] [opcode ]  &lt;- ADD, SUB 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I: [ imm[11:0]         ] [ rs1  ] [f3 ] [ rd    ] [opcode ]  &lt;- ADDI, LW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S: [ imm[11:5]] [ rs2  ] [ rs1  ] [f3 ] [imm4:0 ] [opcode ]  &lt;- SW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B: [imm[12|10:5]] [rs2 ] [ rs1  ] [f3 ] [im4:1|11][opcode ]  &lt;- BEQ, BNE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U: [ imm[31:12]                  ] [ rd    ] [opcode ]  &lt;- LUI, AUIPC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J: [imm[20|10:1|11|19:12]       ] [ rd    ] [opcode ]  &lt;- JAL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Single-Cycle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How Single-Cycle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  •  Each instruction completes in one clock cycle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  •  All hardware used sequentially in one cycle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  •  Clock period = longest instruction delay path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  •  CPI is always 1.0 by definition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B923C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Critical path bottleneck: The clock must be slow enough for the slowest instruction (LW: PC → IMEM → RegFile → ALU → DMEM → Mux). Every instruction pays this penalty.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48640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Single-Cycle Datapath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560320"/>
            <a:ext cx="822960" cy="6400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0A5FA"/>
                </a:solidFill>
                <a:latin typeface="Calibri"/>
              </a:rPr>
              <a:t>PC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560320"/>
            <a:ext cx="822960" cy="6400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78BFA"/>
                </a:solidFill>
                <a:latin typeface="Calibri"/>
              </a:rPr>
              <a:t>IMEM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560320"/>
            <a:ext cx="822960" cy="6400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4D399"/>
                </a:solidFill>
                <a:latin typeface="Calibri"/>
              </a:rPr>
              <a:t>RegFile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560320"/>
            <a:ext cx="822960" cy="6400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923C"/>
                </a:solidFill>
                <a:latin typeface="Calibri"/>
              </a:rPr>
              <a:t>ALU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2560320"/>
            <a:ext cx="822960" cy="6400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7171"/>
                </a:solidFill>
                <a:latin typeface="Calibri"/>
              </a:rPr>
              <a:t>DMEM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406640" y="2743200"/>
            <a:ext cx="137160" cy="2286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321040" y="2743200"/>
            <a:ext cx="137160" cy="2286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9235440" y="2743200"/>
            <a:ext cx="137160" cy="2286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10149840" y="2743200"/>
            <a:ext cx="137160" cy="2286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657600"/>
            <a:ext cx="36576" cy="5486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6520" y="3657600"/>
            <a:ext cx="4892040" cy="548640"/>
          </a:xfrm>
          <a:prstGeom prst="roundRect">
            <a:avLst/>
          </a:prstGeom>
          <a:solidFill>
            <a:srgbClr val="291C28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T_critical = T_pc + T_imem + T_reg + T_alu + T_dmem + T_mux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94960"/>
            <a:ext cx="36576" cy="822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5394960"/>
            <a:ext cx="11018519" cy="822960"/>
          </a:xfrm>
          <a:prstGeom prst="roundRect">
            <a:avLst/>
          </a:prstGeom>
          <a:solidFill>
            <a:srgbClr val="1028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Key Insight: In single-cycle, a simple ADD takes the same time as the slowest LW instruction. Pipelining breaks this into 5 shorter stages, allowing ~5x higher clock frequency.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5-Stage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371600" cy="9144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1800" b="1">
                <a:solidFill>
                  <a:srgbClr val="60A5FA"/>
                </a:solidFill>
              </a:rPr>
              <a:t>IF</a:t>
            </a:r>
          </a:p>
          <a:p>
            <a:pPr algn="ctr"/>
            <a:r>
              <a:rPr sz="900">
                <a:solidFill>
                  <a:srgbClr val="94A3B8"/>
                </a:solidFill>
              </a:rPr>
              <a:t>Instruction
Fetch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554480"/>
            <a:ext cx="1371600" cy="9144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1800" b="1">
                <a:solidFill>
                  <a:srgbClr val="A78BFA"/>
                </a:solidFill>
              </a:rPr>
              <a:t>ID</a:t>
            </a:r>
          </a:p>
          <a:p>
            <a:pPr algn="ctr"/>
            <a:r>
              <a:rPr sz="900">
                <a:solidFill>
                  <a:srgbClr val="94A3B8"/>
                </a:solidFill>
              </a:rPr>
              <a:t>Instruction
Decode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554480"/>
            <a:ext cx="1371600" cy="9144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1800" b="1">
                <a:solidFill>
                  <a:srgbClr val="34D399"/>
                </a:solidFill>
              </a:rPr>
              <a:t>EX</a:t>
            </a:r>
          </a:p>
          <a:p>
            <a:pPr algn="ctr"/>
            <a:r>
              <a:rPr sz="900">
                <a:solidFill>
                  <a:srgbClr val="94A3B8"/>
                </a:solidFill>
              </a:rPr>
              <a:t>Execute /
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554480"/>
            <a:ext cx="1371600" cy="9144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1800" b="1">
                <a:solidFill>
                  <a:srgbClr val="FB923C"/>
                </a:solidFill>
              </a:rPr>
              <a:t>MEM</a:t>
            </a:r>
          </a:p>
          <a:p>
            <a:pPr algn="ctr"/>
            <a:r>
              <a:rPr sz="900">
                <a:solidFill>
                  <a:srgbClr val="94A3B8"/>
                </a:solidFill>
              </a:rPr>
              <a:t>Memory
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554480"/>
            <a:ext cx="1371600" cy="9144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  <a:r>
              <a:rPr sz="1800" b="1">
                <a:solidFill>
                  <a:srgbClr val="F87171"/>
                </a:solidFill>
              </a:rPr>
              <a:t>WB</a:t>
            </a:r>
          </a:p>
          <a:p>
            <a:pPr algn="ctr"/>
            <a:r>
              <a:rPr sz="900">
                <a:solidFill>
                  <a:srgbClr val="94A3B8"/>
                </a:solidFill>
              </a:rPr>
              <a:t>Write
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645920"/>
            <a:ext cx="594360" cy="7315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800" b="1">
                <a:solidFill>
                  <a:srgbClr val="A78BFA"/>
                </a:solidFill>
                <a:latin typeface="Consolas"/>
              </a:rPr>
              <a:t>IF/ID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594360" cy="7315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800" b="1">
                <a:solidFill>
                  <a:srgbClr val="34D399"/>
                </a:solidFill>
                <a:latin typeface="Consolas"/>
              </a:rPr>
              <a:t>ID/EX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594360" cy="7315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800" b="1">
                <a:solidFill>
                  <a:srgbClr val="FB923C"/>
                </a:solidFill>
                <a:latin typeface="Consolas"/>
              </a:rPr>
              <a:t>EX/MEM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645920"/>
            <a:ext cx="594360" cy="7315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800" b="1">
                <a:solidFill>
                  <a:srgbClr val="F87171"/>
                </a:solidFill>
                <a:latin typeface="Consolas"/>
              </a:rPr>
              <a:t>MEM/WB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274320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017520"/>
                <a:gridCol w="1828800"/>
              </a:tblGrid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Key Modules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0A5FA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Fetch instruction at PC, compute PC+4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pc, imem, pc_adder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78BF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Decode opcode, read registers, gen immediate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control, regfile, imm_gen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EX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ALU operation, branch decision, target calc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alu, forwarding mux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MEM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Load/Store data memory access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dmem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WB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Select result and write to register file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result mux, regfile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09360" y="274320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3108960"/>
              </a:tblGrid>
              <a:tr h="4389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Register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Width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Key Fields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78BFA"/>
                          </a:solidFill>
                          <a:latin typeface="Calibri"/>
                        </a:rPr>
                        <a:t>IF/ID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~67 bits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instruction, PC, PC+4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ID/EX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~180 bits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controls, rd1, rd2, imm, rs1/rs2/rd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EX/MEM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~103 bits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ALU result, write data, rd, controls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MEM/WB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~104 bits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ALU result, mem data, rd, controls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309360" y="5212080"/>
            <a:ext cx="36576" cy="6400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5212080"/>
            <a:ext cx="5257800" cy="640080"/>
          </a:xfrm>
          <a:prstGeom prst="roundRect">
            <a:avLst/>
          </a:prstGeom>
          <a:solidFill>
            <a:srgbClr val="1028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Key advantage: Each stage is 1/5 of the critical path -&gt; clock runs ~5x faster.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Pipeline Timing &amp; Instruction Overlap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2743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Ideal Pipeline Execution (No Hazards)</a:t>
            </a:r>
          </a:p>
          <a:p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Multiple instructions execute simultaneously, each in a different stage: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94560"/>
          <a:ext cx="104790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42415"/>
                <a:gridCol w="1042415"/>
                <a:gridCol w="1042415"/>
                <a:gridCol w="1042415"/>
                <a:gridCol w="1042415"/>
                <a:gridCol w="1042415"/>
                <a:gridCol w="1042415"/>
                <a:gridCol w="1042415"/>
                <a:gridCol w="1042415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CC1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CC2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CC3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CC4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CC5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CC6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CC7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CC8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CC9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Instr 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0A5FA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78BF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EX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MEM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WB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Instr 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0A5FA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78BF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EX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MEM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WB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Instr 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0A5FA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78BF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EX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MEM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WB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Instr 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0A5FA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78BF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EX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MEM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WB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Instr 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0A5FA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78BF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EX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MEM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WB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297680"/>
            <a:ext cx="548640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Throughput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87171"/>
                </a:solidFill>
                <a:latin typeface="Consolas"/>
              </a:rPr>
              <a:t>Single-Cycle:               1x throughput</a:t>
            </a:r>
          </a:p>
          <a:p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D399"/>
                </a:solidFill>
                <a:latin typeface="Consolas"/>
              </a:rPr>
              <a:t>5-Stage (ideal CPI=1):      5x throughput</a:t>
            </a:r>
          </a:p>
          <a:p/>
          <a:p>
            <a:pPr algn="l">
              <a:spcAft>
                <a:spcPts val="400"/>
              </a:spcAft>
            </a:pPr>
            <a:r>
              <a:rPr sz="1200" b="0">
                <a:solidFill>
                  <a:srgbClr val="60A5FA"/>
                </a:solidFill>
                <a:latin typeface="Consolas"/>
              </a:rPr>
              <a:t>5-Stage (real CPI=1.14):    ~4.4x throughput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297680"/>
            <a:ext cx="530352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343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Why Not Perfect 5x?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7091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200" b="1">
                <a:solidFill>
                  <a:srgbClr val="E2E8F0"/>
                </a:solidFill>
                <a:latin typeface="Calibri"/>
              </a:rPr>
              <a:t>  •  Data hazards:</a:t>
            </a:r>
            <a:r>
              <a:rPr sz="1200">
                <a:solidFill>
                  <a:srgbClr val="94A3B8"/>
                </a:solidFill>
                <a:latin typeface="Calibri"/>
              </a:rPr>
              <a:t> instruction depends on unavailable result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E2E8F0"/>
                </a:solidFill>
                <a:latin typeface="Calibri"/>
              </a:rPr>
              <a:t>  •  Control hazards:</a:t>
            </a:r>
            <a:r>
              <a:rPr sz="1200">
                <a:solidFill>
                  <a:srgbClr val="94A3B8"/>
                </a:solidFill>
                <a:latin typeface="Calibri"/>
              </a:rPr>
              <a:t> branch decision not known until EX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E2E8F0"/>
                </a:solidFill>
                <a:latin typeface="Calibri"/>
              </a:rPr>
              <a:t>  •  Pipeline fill/drain:</a:t>
            </a:r>
            <a:r>
              <a:rPr sz="1200">
                <a:solidFill>
                  <a:srgbClr val="94A3B8"/>
                </a:solidFill>
                <a:latin typeface="Calibri"/>
              </a:rPr>
              <a:t> startup &amp; shutdown overhead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669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Speedup = N / CPI = 5 / 1.14 = 4.39x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Hardware Module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300" b="1">
                <a:solidFill>
                  <a:srgbClr val="60A5FA"/>
                </a:solidFill>
                <a:latin typeface="Consolas"/>
              </a:rPr>
              <a:t>pc.v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32-bit program counter with reset &amp; enable for stall control</a:t>
            </a:r>
          </a:p>
          <a:p>
            <a:r>
              <a:rPr sz="900">
                <a:solidFill>
                  <a:srgbClr val="60A5FA"/>
                </a:solidFill>
                <a:latin typeface="Consolas"/>
              </a:rPr>
              <a:t>16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5661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300" b="1">
                <a:solidFill>
                  <a:srgbClr val="60A5FA"/>
                </a:solidFill>
                <a:latin typeface="Consolas"/>
              </a:rPr>
              <a:t>pc_adder.v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Simple combinational adder: PC + 4</a:t>
            </a:r>
          </a:p>
          <a:p>
            <a:r>
              <a:rPr sz="900">
                <a:solidFill>
                  <a:srgbClr val="60A5FA"/>
                </a:solidFill>
                <a:latin typeface="Consolas"/>
              </a:rPr>
              <a:t>7 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5661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300" b="1">
                <a:solidFill>
                  <a:srgbClr val="A78BFA"/>
                </a:solidFill>
                <a:latin typeface="Consolas"/>
              </a:rPr>
              <a:t>imem.v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64-word instruction memory. NOP-initialized. Loads .hex</a:t>
            </a:r>
          </a:p>
          <a:p>
            <a:r>
              <a:rPr sz="900">
                <a:solidFill>
                  <a:srgbClr val="A78BFA"/>
                </a:solidFill>
                <a:latin typeface="Consolas"/>
              </a:rPr>
              <a:t>15 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35661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300" b="1">
                <a:solidFill>
                  <a:srgbClr val="A78BFA"/>
                </a:solidFill>
                <a:latin typeface="Consolas"/>
              </a:rPr>
              <a:t>control.v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Combinational decoder: opcode+funct3+funct7 → 10 control signals</a:t>
            </a:r>
          </a:p>
          <a:p>
            <a:r>
              <a:rPr sz="900">
                <a:solidFill>
                  <a:srgbClr val="A78BFA"/>
                </a:solidFill>
                <a:latin typeface="Consolas"/>
              </a:rPr>
              <a:t>133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971800"/>
            <a:ext cx="35661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300" b="1">
                <a:solidFill>
                  <a:srgbClr val="34D399"/>
                </a:solidFill>
                <a:latin typeface="Consolas"/>
              </a:rPr>
              <a:t>regfile.v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32x32 register file. x0=0. Write-through bypass for WB→ID</a:t>
            </a:r>
          </a:p>
          <a:p>
            <a:r>
              <a:rPr sz="900">
                <a:solidFill>
                  <a:srgbClr val="34D399"/>
                </a:solidFill>
                <a:latin typeface="Consolas"/>
              </a:rPr>
              <a:t>24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971800"/>
            <a:ext cx="35661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300" b="1">
                <a:solidFill>
                  <a:srgbClr val="34D399"/>
                </a:solidFill>
                <a:latin typeface="Consolas"/>
              </a:rPr>
              <a:t>imm_gen.v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Sign-extended immediates for all 6 instruction formats</a:t>
            </a:r>
          </a:p>
          <a:p>
            <a:r>
              <a:rPr sz="900">
                <a:solidFill>
                  <a:srgbClr val="34D399"/>
                </a:solidFill>
                <a:latin typeface="Consolas"/>
              </a:rPr>
              <a:t>33 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35661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300" b="1">
                <a:solidFill>
                  <a:srgbClr val="FB923C"/>
                </a:solidFill>
                <a:latin typeface="Consolas"/>
              </a:rPr>
              <a:t>alu.v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11-operation ALU: ADD,SUB,AND,OR,XOR,SLT,SLTU,SLL,SRL,SRA,ROL</a:t>
            </a:r>
          </a:p>
          <a:p>
            <a:r>
              <a:rPr sz="900">
                <a:solidFill>
                  <a:srgbClr val="FB923C"/>
                </a:solidFill>
                <a:latin typeface="Consolas"/>
              </a:rPr>
              <a:t>28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572000"/>
            <a:ext cx="35661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300" b="1">
                <a:solidFill>
                  <a:srgbClr val="FB923C"/>
                </a:solidFill>
                <a:latin typeface="Consolas"/>
              </a:rPr>
              <a:t>dmem.v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64-word data memory. Async read, sync write</a:t>
            </a:r>
          </a:p>
          <a:p>
            <a:r>
              <a:rPr sz="900">
                <a:solidFill>
                  <a:srgbClr val="FB923C"/>
                </a:solidFill>
                <a:latin typeface="Consolas"/>
              </a:rPr>
              <a:t>18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572000"/>
            <a:ext cx="35661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300" b="1">
                <a:solidFill>
                  <a:srgbClr val="F87171"/>
                </a:solidFill>
                <a:latin typeface="Consolas"/>
              </a:rPr>
              <a:t>top.v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Pipeline: 4 pipe regs, forwarding, hazard detect, perf counters</a:t>
            </a:r>
          </a:p>
          <a:p>
            <a:r>
              <a:rPr sz="900">
                <a:solidFill>
                  <a:srgbClr val="F87171"/>
                </a:solidFill>
                <a:latin typeface="Consolas"/>
              </a:rPr>
              <a:t>401 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309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Total: 9 modules · 675 lines of Verilog · 5 testbenches · 227 lines of test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HAZARDS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Pipeline Hazards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3200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0A5FA"/>
                </a:solidFill>
                <a:latin typeface="Calibri"/>
              </a:rPr>
              <a:t>Data Hazards (RAW)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Instruction needs a register value not yet written 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3291840" cy="8229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ADD x1, x2, x3  // writes x1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SUB x4, x1, x5  // reads x1!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Calibri"/>
              </a:rPr>
              <a:t>Solution: Data forwarding + load-use stall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566160" cy="3200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17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B923C"/>
                </a:solidFill>
                <a:latin typeface="Calibri"/>
              </a:rPr>
              <a:t>Control Hazards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Branch outcome unknown until EX — wrong instructions may enter pipeline.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468880"/>
            <a:ext cx="3291840" cy="8229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BEQ x1, x2, target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next 2 instrs fetched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must flush if taken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B923C"/>
                </a:solidFill>
                <a:latin typeface="Calibri"/>
              </a:rPr>
              <a:t>Solution: Pipeline flush (2-cycle penalty)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566160" cy="3200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17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Load-Use Hazard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737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Load result only available after MEM, but next instruction needs it in EX.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468880"/>
            <a:ext cx="3291840" cy="8229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LW   x6, 0(x0)   // data at MEM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ADDI x7, x6, 1   // needs in EX!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Solution: 1-cycle stall + MEM/WB forward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475488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1828800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Hazard Type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Resolution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Penalty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RAW (1-gap)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Forward from EX/MEM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0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RAW (2-gap)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Forward from MEM/WB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0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RAW (3-gap)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Register write-through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0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Load-Use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Stall 1 cycle + forward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1 cycle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Branch taken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Flush IF/ID + ID/EX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2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7315200" y="4754880"/>
            <a:ext cx="36576" cy="1188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60920" y="4754880"/>
            <a:ext cx="4251960" cy="1188720"/>
          </a:xfrm>
          <a:prstGeom prst="roundRect">
            <a:avLst/>
          </a:prstGeom>
          <a:solidFill>
            <a:srgbClr val="1028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4 out of 5 hazard types resolved with ZERO penalty thanks to forwarding. Only load-use requires 1-cycle stall, and branches cost 2 cycles when taken.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HAZARDS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Data Forwarding Unit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3200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Forwarding Paths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94560"/>
            <a:ext cx="914400" cy="54864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400" b="1">
                <a:solidFill>
                  <a:srgbClr val="A78BFA"/>
                </a:solidFill>
              </a:rPr>
              <a:t>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194560"/>
            <a:ext cx="914400" cy="54864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400" b="1">
                <a:solidFill>
                  <a:srgbClr val="34D399"/>
                </a:solidFill>
              </a:rPr>
              <a:t>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194560"/>
            <a:ext cx="914400" cy="54864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400" b="1">
                <a:solidFill>
                  <a:srgbClr val="FB923C"/>
                </a:solidFill>
              </a:rPr>
              <a:t>MEM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194560"/>
            <a:ext cx="914400" cy="54864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400" b="1">
                <a:solidFill>
                  <a:srgbClr val="F87171"/>
                </a:solidFill>
              </a:rPr>
              <a:t>WB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3017520"/>
            <a:ext cx="914400" cy="36576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60A5FA"/>
                </a:solidFill>
              </a:rPr>
              <a:t>FWD MUX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← EX/MEM Forward (1-gap, 0 penalty)</a:t>
            </a:r>
          </a:p>
          <a:p/>
          <a:p>
            <a:pPr algn="l">
              <a:spcAft>
                <a:spcPts val="400"/>
              </a:spcAft>
            </a:pPr>
            <a:r>
              <a:rPr sz="1000" b="1">
                <a:solidFill>
                  <a:srgbClr val="FB923C"/>
                </a:solidFill>
                <a:latin typeface="Calibri"/>
              </a:rPr>
              <a:t>← MEM/WB Forward (2-gap, 0 penalty)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30352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Forwarding Control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783080"/>
            <a:ext cx="4937760" cy="146304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Forward A (ALU src1)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assign forward_a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// EX/MEM hazard (1-gap)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(ex_mem_reg_write &amp;&amp; ex_mem_rd !=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 &amp;&amp; ex_mem_rd == id_ex_rs1) ? 2'b10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// MEM/WB hazard (2-gap)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(mem_wb_reg_write &amp;&amp; mem_wb_rd !=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 &amp;&amp; mem_wb_rd == id_ex_rs1) ? 2'b01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2'b00; // No hazard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66160"/>
            <a:ext cx="53035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Write-Through Bypass (3-gap Bug Fix)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977639"/>
            <a:ext cx="4937760" cy="9144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In regfile.v - handles WB-&gt;ID same cycle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assign rd1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(a1 == 0)                       ? 32'b0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(we3 &amp;&amp; a3 == a1 &amp;&amp; a3 != 5'b0) ? wd3  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                                  rf[a1];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983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Bug fix: without this, 3-instruction gap reads stale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54880"/>
            <a:ext cx="36576" cy="5486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754880"/>
            <a:ext cx="5440680" cy="548640"/>
          </a:xfrm>
          <a:prstGeom prst="roundRect">
            <a:avLst/>
          </a:prstGeom>
          <a:solidFill>
            <a:srgbClr val="1028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Forwarding eliminates 100% of data stalls on Fibonacci benchmark. Every RAW dependency resolved with zero penalty.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HAZARDS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Load-Use Stalls &amp; Branch Flushes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Load-Use Stall Mechanism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20640" cy="15544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Detect load-use hazard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wire load_use_hazard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id_ex_result_src == 2'b01   // load in EX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&amp;&amp; (id_ex_rd == if_id_rs1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 || id_ex_rd == if_id_rs2)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&amp;&amp; id_ex_rd !=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Stall action: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1. Freeze PC    (don't fetch next)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2. Hold IF/ID   (re-decode same instr)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3. Insert NOP in ID/EX (bubble)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Branch Flush Mechanism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783080"/>
            <a:ext cx="4937760" cy="15544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Branch resolved in EX stage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wire branch_taken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(id_ex_branch &amp;&amp; alu_zero)  // BEQ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|| id_ex_jump               // JAL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|| id_ex_jalr;              // JALR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wire flush = branch_taken;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Flush action: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1. Zero out IF/ID register (NOP)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2. Zero out ID/EX register (NOP)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3. Redirect PC to branch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48640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0A5FA"/>
                </a:solidFill>
                <a:latin typeface="Calibri"/>
              </a:rPr>
              <a:t>Stall Timing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4023360"/>
          <a:ext cx="51206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LW x6,0(x0)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0A5FA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78BF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EX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MEM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WB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ADDI x7,x6,1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0A5FA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78BF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stall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EX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MEM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WB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309360" y="3657600"/>
            <a:ext cx="53035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703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0A5FA"/>
                </a:solidFill>
                <a:latin typeface="Calibri"/>
              </a:rPr>
              <a:t>Flush Timing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92240" y="4023360"/>
          <a:ext cx="4928609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21207"/>
                <a:gridCol w="521207"/>
                <a:gridCol w="521207"/>
                <a:gridCol w="521207"/>
                <a:gridCol w="521207"/>
                <a:gridCol w="521207"/>
                <a:gridCol w="521207"/>
              </a:tblGrid>
              <a:tr h="2628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BEQ x1,x2,T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0A5FA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78BF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EX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MEM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WB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PC+4 (wrong)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0A5FA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flush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Target instr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0A5FA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78BF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EX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MEM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548640" y="5486400"/>
            <a:ext cx="36576" cy="54864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5486400"/>
            <a:ext cx="5440680" cy="548640"/>
          </a:xfrm>
          <a:prstGeom prst="roundRect">
            <a:avLst/>
          </a:prstGeom>
          <a:solidFill>
            <a:srgbClr val="292021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After stall, data forwarded from MEM/WB to EX (cost: 1 cycle)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5486400"/>
            <a:ext cx="36576" cy="54864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5486400"/>
            <a:ext cx="5257800" cy="548640"/>
          </a:xfrm>
          <a:prstGeom prst="roundRect">
            <a:avLst/>
          </a:prstGeom>
          <a:solidFill>
            <a:srgbClr val="292021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2 wasted cycles per taken branch (fetched instructions are flushed)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INSTRUMENTATION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Performance Counters &amp; Halt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01168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Counter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0A5FA"/>
                          </a:solidFill>
                          <a:latin typeface="Calibri"/>
                        </a:rPr>
                        <a:t>perf_cycles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Total clock cycles elapsed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Increments every posedge clk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perf_instrs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Retired (completed) instructions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Counts when mem_wb_valid == 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perf_stalls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Load-use hazard stall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Counts when stall signal asserted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perf_flushes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Branch/jump flush events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Counts when flush signal asserted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383280"/>
            <a:ext cx="640080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Derived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CPI = perf_cycles / perf_instrs</a:t>
            </a:r>
          </a:p>
          <a:p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Stall Rate = perf_stalls / perf_cycles x 100%</a:t>
            </a:r>
          </a:p>
          <a:p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Flush Rate = perf_flushes / perf_cycles x 100%</a:t>
            </a:r>
          </a:p>
          <a:p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Speedup = N / CPI  (vs single-cycle)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371600"/>
            <a:ext cx="42976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4173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Valid Bit Propagation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783080"/>
            <a:ext cx="3931920" cy="12801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Valid bit pipeline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reg id_ex_valid, ex_mem_valid,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  mem_wb_valid;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Count only when instr reaches WB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if (mem_wb_valid &amp;&amp; !halted)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perf_instrs &lt;= perf_instrs + 1;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383280"/>
            <a:ext cx="42976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3429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Halt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794760"/>
            <a:ext cx="3931920" cy="8229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Detect jal x0, 0 (self-loop)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wire halt_instr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opcode == JAL &amp;&amp; rd == x0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&amp;&amp; offset ==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Freezes all counters on halt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36576" cy="5486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4937760"/>
            <a:ext cx="11018519" cy="548640"/>
          </a:xfrm>
          <a:prstGeom prst="roundRect">
            <a:avLst/>
          </a:prstGeom>
          <a:solidFill>
            <a:srgbClr val="1028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Programs end with "jal x0, 0" to halt cleanly. Counters freeze so results reflect only program execution, not idle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Benchmark Programs &amp;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Fibonacci Benchmark (benchmark.hex)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Iterative computation of F(0)...F(9), stores all 10 values to data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5120640" cy="11887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a=0; b=1; mem[0]=a; mem[4]=b;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for (i=2; i&lt;10; i++)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temp = a + b;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mem[i*4] = temp;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a = b; b = temp;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halt;  // jal x0, 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840480"/>
          <a:ext cx="2926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914400"/>
                <a:gridCol w="1005840"/>
              </a:tblGrid>
              <a:tr h="24938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Address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Fib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mem[0]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F(0)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mem[1]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F(1)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mem[2]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F(2)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mem[3]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F(3)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mem[4]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F(4)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mem[5]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F(5)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mem[6]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F(6)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mem[7]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F(7)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mem[8]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F(8)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493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mem[9]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F(9)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09360" y="1371600"/>
            <a:ext cx="530352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Pipeline Hazard Test (program.hex)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17830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91840"/>
                <a:gridCol w="1463040"/>
              </a:tblGrid>
              <a:tr h="261257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EX/MEM forwarding (back-to-back)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MEM/WB forwarding (2-gap)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Load-use hazard (stall+fwd)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R-type forwarding chain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Store with forwarded data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Branch with forwarding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309360" y="3840480"/>
            <a:ext cx="5303520" cy="1554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886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Unit Tests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92240" y="4206240"/>
          <a:ext cx="49377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1280160"/>
              </a:tblGrid>
              <a:tr h="1828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Testbench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alu_tb.v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ADD, AND, SUB + zero flag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regfile_tb.v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Write, read, x0 hardwired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top_tb.v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Full pipeline (35 instrs)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benchmark_tb.v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Fibonacci (64 instrs)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crypto_tb.v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ChaCha20 SW vs HW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3657600" y="4572000"/>
            <a:ext cx="36576" cy="5486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03320" y="4572000"/>
            <a:ext cx="2423160" cy="548640"/>
          </a:xfrm>
          <a:prstGeom prst="roundRect">
            <a:avLst/>
          </a:prstGeom>
          <a:solidFill>
            <a:srgbClr val="1028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Exercises: back-to-back deps, forwarding paths, branches, memory ops.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Performance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</a:pPr>
            <a:r>
              <a:rPr sz="3200" b="1">
                <a:solidFill>
                  <a:srgbClr val="60A5FA"/>
                </a:solidFill>
                <a:latin typeface="Calibri"/>
              </a:rPr>
              <a:t>1.14</a:t>
            </a:r>
          </a:p>
          <a:p>
            <a:pPr algn="ctr"/>
            <a:r>
              <a:rPr sz="900" b="1">
                <a:solidFill>
                  <a:srgbClr val="94A3B8"/>
                </a:solidFill>
                <a:latin typeface="Calibri"/>
              </a:rPr>
              <a:t>CPI (Fibonacci)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</a:pPr>
            <a:r>
              <a:rPr sz="3200" b="1">
                <a:solidFill>
                  <a:srgbClr val="A78BFA"/>
                </a:solidFill>
                <a:latin typeface="Calibri"/>
              </a:rPr>
              <a:t>0</a:t>
            </a:r>
          </a:p>
          <a:p>
            <a:pPr algn="ctr"/>
            <a:r>
              <a:rPr sz="900" b="1">
                <a:solidFill>
                  <a:srgbClr val="94A3B8"/>
                </a:solidFill>
                <a:latin typeface="Calibri"/>
              </a:rPr>
              <a:t>Stall Cycles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</a:pPr>
            <a:r>
              <a:rPr sz="3200" b="1">
                <a:solidFill>
                  <a:srgbClr val="FB923C"/>
                </a:solidFill>
                <a:latin typeface="Calibri"/>
              </a:rPr>
              <a:t>9.9%</a:t>
            </a:r>
          </a:p>
          <a:p>
            <a:pPr algn="ctr"/>
            <a:r>
              <a:rPr sz="900" b="1">
                <a:solidFill>
                  <a:srgbClr val="94A3B8"/>
                </a:solidFill>
                <a:latin typeface="Calibri"/>
              </a:rPr>
              <a:t>Flush Overhead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37160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</a:pPr>
            <a:r>
              <a:rPr sz="3200" b="1">
                <a:solidFill>
                  <a:srgbClr val="34D399"/>
                </a:solidFill>
                <a:latin typeface="Calibri"/>
              </a:rPr>
              <a:t>4.4x</a:t>
            </a:r>
          </a:p>
          <a:p>
            <a:pPr algn="ctr"/>
            <a:r>
              <a:rPr sz="900" b="1">
                <a:solidFill>
                  <a:srgbClr val="94A3B8"/>
                </a:solidFill>
                <a:latin typeface="Calibri"/>
              </a:rPr>
              <a:t>Throughput Gain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74320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  <a:gridCol w="1920240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Single-Cycle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5-Stage Pipeline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Clock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2E8F0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Instructions Retired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2E8F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CPI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1.14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Stall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Flush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B923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Flush Rate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B923C"/>
                          </a:solidFill>
                          <a:latin typeface="Calibri"/>
                        </a:rPr>
                        <a:t>9.9%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Max Clock Freq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1/Tcrit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~5/Tcrit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Effective Throughput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1x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~4.4x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92240" y="2743200"/>
          <a:ext cx="5029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560320"/>
              </a:tblGrid>
              <a:tr h="30861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Clock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2E8F0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Instructions Retired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2E8F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CPI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Stall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B923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Flush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B923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Stall Rate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1.67%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Flush Rate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1.67%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92240" y="5394960"/>
            <a:ext cx="36576" cy="6400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59" y="5394960"/>
            <a:ext cx="4983480" cy="640080"/>
          </a:xfrm>
          <a:prstGeom prst="roundRect">
            <a:avLst/>
          </a:prstGeom>
          <a:solidFill>
            <a:srgbClr val="1028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Even with deliberate hazard-heavy code, CPI stays at 1.09 thanks to the forwarding unit.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Quantitative Analysis &amp;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CPI Breakdown — Fibonacci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83080"/>
          <a:ext cx="51206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94560"/>
              </a:tblGrid>
              <a:tr h="289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Contribution to CPI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Base CPI (ideal pipeline)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+1.000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Load-use stall penalty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+0.000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Branch flush penalty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B923C"/>
                          </a:solidFill>
                          <a:latin typeface="Calibri"/>
                        </a:rPr>
                        <a:t>+0.113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Pipeline fill/drain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+0.028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2E8F0"/>
                          </a:solidFill>
                          <a:latin typeface="Calibri"/>
                        </a:rPr>
                        <a:t>Measured CPI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1.141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309360" y="1371600"/>
            <a:ext cx="530352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Cycle Breakdown — Fibonacci (81 cycles)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Consolas"/>
              </a:rPr>
              <a:t>Useful work:        71 cycles (87.7%)</a:t>
            </a:r>
          </a:p>
          <a:p/>
          <a:p>
            <a:pPr algn="l">
              <a:spcAft>
                <a:spcPts val="400"/>
              </a:spcAft>
            </a:pPr>
            <a:r>
              <a:rPr sz="1200" b="1">
                <a:solidFill>
                  <a:srgbClr val="FB923C"/>
                </a:solidFill>
                <a:latin typeface="Consolas"/>
              </a:rPr>
              <a:t>Branch flushes:      8 cycles ( 9.9%)</a:t>
            </a:r>
          </a:p>
          <a:p/>
          <a:p>
            <a:pPr algn="l">
              <a:spcAft>
                <a:spcPts val="400"/>
              </a:spcAft>
            </a:pPr>
            <a:r>
              <a:rPr sz="1200" b="0">
                <a:solidFill>
                  <a:srgbClr val="A78BFA"/>
                </a:solidFill>
                <a:latin typeface="Consolas"/>
              </a:rPr>
              <a:t>Pipeline fill/drain: 2 cycles ( 2.5%)</a:t>
            </a:r>
          </a:p>
          <a:p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Load-use stalls:     0 cycles ( 0.0%)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48640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Forwarding Effectiveness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With forwarding:      CPI = 1.14</a:t>
            </a:r>
          </a:p>
          <a:p/>
          <a:p>
            <a:pPr algn="l">
              <a:spcAft>
                <a:spcPts val="400"/>
              </a:spcAft>
            </a:pPr>
            <a:r>
              <a:rPr sz="1300" b="1">
                <a:solidFill>
                  <a:srgbClr val="F87171"/>
                </a:solidFill>
                <a:latin typeface="Consolas"/>
              </a:rPr>
              <a:t>Without forwarding:   CPI = 1.6 - 2.0 (est.)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394960"/>
            <a:ext cx="36576" cy="7315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5394960"/>
            <a:ext cx="5440680" cy="731520"/>
          </a:xfrm>
          <a:prstGeom prst="roundRect">
            <a:avLst/>
          </a:prstGeom>
          <a:solidFill>
            <a:srgbClr val="1028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Forwarding eliminates 100% of data stalls on Fibonacci. Every RAW dependency resolved by EX/MEM, MEM/WB, or write-through with zero penalty.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09360" y="3840480"/>
          <a:ext cx="5303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731520"/>
                <a:gridCol w="1828800"/>
              </a:tblGrid>
              <a:tr h="320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Clock Period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CPI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Throughput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Single-Cycle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Tcrit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1/Tcrit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Pipeline (ours)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Tcrit/5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1.14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4.39/Tcrit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Pipeline (no fwd)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Tcrit/5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~1.8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~2.78/Tcrit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309360" y="5394960"/>
            <a:ext cx="36576" cy="7315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5394960"/>
            <a:ext cx="5257800" cy="73152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Throughput = IPC x f_clk = (1/1.14) x 5f = 4.39f
Speedup: 4.39x over single-cycle | Efficiency: 87.7%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ISA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Custom ROL Instruction — ChaCha20 Quarter-Round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What is ChaCha20?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100" b="1">
                <a:solidFill>
                  <a:srgbClr val="E2E8F0"/>
                </a:solidFill>
                <a:latin typeface="Calibri"/>
              </a:rPr>
              <a:t>  •  Stream cipher:</a:t>
            </a:r>
            <a:r>
              <a:rPr sz="1100">
                <a:solidFill>
                  <a:srgbClr val="94A3B8"/>
                </a:solidFill>
                <a:latin typeface="Calibri"/>
              </a:rPr>
              <a:t> used in TLS 1.3, WireGuard, SSH, Android encryption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E2E8F0"/>
                </a:solidFill>
                <a:latin typeface="Calibri"/>
              </a:rPr>
              <a:t>  •  Core op:</a:t>
            </a:r>
            <a:r>
              <a:rPr sz="1100">
                <a:solidFill>
                  <a:srgbClr val="94A3B8"/>
                </a:solidFill>
                <a:latin typeface="Calibri"/>
              </a:rPr>
              <a:t> quarter-round — built from ADD, XOR, Rotate-Left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Standard RV32I has no rotate — emulate with 3 instructions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RISC-V Zbkb extension adds ROL/ROR for this reason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53035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Our Custom Instruction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4937760" cy="12801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Added to alu.v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4'b1010: result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(src1 &lt;&lt; src2[4:0]) 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  (src1 &gt;&gt; (32 - src2[4:0])); // ROL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control.v: custom-0 opcode (0001011)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R-type format, uses existing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486400" cy="1554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ChaCha20 Quarter-Round Algorithm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83080"/>
            <a:ext cx="5120640" cy="1051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Input:  a=0x61  b=0x62  c=0x63  d=0x64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Repeat 4 rounds of: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a += b;  d ^= a;  d &lt;&lt;&lt;= 16;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c += d;  b ^= c;  b &lt;&lt;&lt;= 12;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a += b;  d ^= a;  d &lt;&lt;&lt;=  8;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c += d;  b ^= c;  b &lt;&lt;&lt;=  7;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108960"/>
            <a:ext cx="548640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154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Round-by-Round Trace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09360" y="3474720"/>
          <a:ext cx="51206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51560"/>
                <a:gridCol w="1051560"/>
                <a:gridCol w="1051560"/>
                <a:gridCol w="105156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0A5FA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00000061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00000062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00000063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00000064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Round 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700010CD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DBEEECEB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A7B7CDD3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A710CD70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923C"/>
                          </a:solidFill>
                          <a:latin typeface="Calibri"/>
                        </a:rPr>
                        <a:t>Round 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31529DEE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C935724B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72F1CAD2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9A711001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4899"/>
                          </a:solidFill>
                          <a:latin typeface="Calibri"/>
                        </a:rPr>
                        <a:t>Round 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F0201BDA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1EA20D3F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8BA54FBB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187B23F0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Round 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D576E19B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1898E8F8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36858953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9FF722DF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48640" y="5394960"/>
            <a:ext cx="530352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B923C"/>
                </a:solidFill>
                <a:latin typeface="Calibri"/>
              </a:rPr>
              <a:t>Standard RV32I (3 instrs):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60720"/>
            <a:ext cx="2286000" cy="7315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SLLI x5, x4, 16  // d&lt;&lt;16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SRLI x6, x4, 16  // d&gt;&gt;16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OR   x4, x5, x6  // combine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With Custom ROL (1 instr):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5760720"/>
            <a:ext cx="2560320" cy="7315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ROL  x4, x4, x12 // done!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x12 holds 16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9D1D9"/>
                </a:solidFill>
                <a:latin typeface="Consolas"/>
              </a:rPr>
              <a:t>// 1 instruction, 1 cycle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5394960"/>
            <a:ext cx="36576" cy="457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200" y="5394960"/>
            <a:ext cx="5440680" cy="457200"/>
          </a:xfrm>
          <a:prstGeom prst="roundRect">
            <a:avLst/>
          </a:prstGeom>
          <a:solidFill>
            <a:srgbClr val="1028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Both versions produce identical output — verified in simulation.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ISA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Crypto Benchmark: Software vs Hardware —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</a:pPr>
            <a:r>
              <a:rPr sz="3200" b="1">
                <a:solidFill>
                  <a:srgbClr val="60A5FA"/>
                </a:solidFill>
                <a:latin typeface="Calibri"/>
              </a:rPr>
              <a:t>1.35x</a:t>
            </a:r>
          </a:p>
          <a:p>
            <a:pPr algn="ctr"/>
            <a:r>
              <a:rPr sz="900" b="1">
                <a:solidFill>
                  <a:srgbClr val="94A3B8"/>
                </a:solidFill>
                <a:latin typeface="Calibri"/>
              </a:rPr>
              <a:t>Speedup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</a:pPr>
            <a:r>
              <a:rPr sz="3200" b="1">
                <a:solidFill>
                  <a:srgbClr val="A78BFA"/>
                </a:solidFill>
                <a:latin typeface="Calibri"/>
              </a:rPr>
              <a:t>26%</a:t>
            </a:r>
          </a:p>
          <a:p>
            <a:pPr algn="ctr"/>
            <a:r>
              <a:rPr sz="900" b="1">
                <a:solidFill>
                  <a:srgbClr val="94A3B8"/>
                </a:solidFill>
                <a:latin typeface="Calibri"/>
              </a:rPr>
              <a:t>Fewer Cycles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</a:pPr>
            <a:r>
              <a:rPr sz="3200" b="1">
                <a:solidFill>
                  <a:srgbClr val="34D399"/>
                </a:solidFill>
                <a:latin typeface="Calibri"/>
              </a:rPr>
              <a:t>28</a:t>
            </a:r>
          </a:p>
          <a:p>
            <a:pPr algn="ctr"/>
            <a:r>
              <a:rPr sz="900" b="1">
                <a:solidFill>
                  <a:srgbClr val="94A3B8"/>
                </a:solidFill>
                <a:latin typeface="Calibri"/>
              </a:rPr>
              <a:t>Instrs Saved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37160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</a:pPr>
            <a:r>
              <a:rPr sz="3200" b="1">
                <a:solidFill>
                  <a:srgbClr val="FB923C"/>
                </a:solidFill>
                <a:latin typeface="Calibri"/>
              </a:rPr>
              <a:t>36%</a:t>
            </a:r>
          </a:p>
          <a:p>
            <a:pPr algn="ctr"/>
            <a:r>
              <a:rPr sz="900" b="1">
                <a:solidFill>
                  <a:srgbClr val="94A3B8"/>
                </a:solidFill>
                <a:latin typeface="Calibri"/>
              </a:rPr>
              <a:t>Code Reduction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65176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1554480"/>
                <a:gridCol w="1828800"/>
              </a:tblGrid>
              <a:tr h="29094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Software (RV32I)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Hardware (+ROL)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0A5FA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Clock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2E8F0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-28 (26%)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Instructions Retired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2E8F0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-28 (28%)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Loop Body Size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2E8F0"/>
                          </a:solidFill>
                          <a:latin typeface="Calibri"/>
                        </a:rPr>
                        <a:t>22 instrs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14 instrs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-8 per iter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Stalls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Flushes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CPI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1.059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1.082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Output (a)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0xD576E19B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0xD576E19B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match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Output (b)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0x1898E8F8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0x1898E8F8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match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Output (c)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0x36858953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0x36858953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match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9095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Output (d)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  <a:latin typeface="Calibri"/>
                        </a:rPr>
                        <a:t>0x9FF722DF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4D399"/>
                          </a:solidFill>
                          <a:latin typeface="Calibri"/>
                        </a:rPr>
                        <a:t>0x9FF722DF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match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223760" y="2651760"/>
            <a:ext cx="438912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6974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Real-World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01752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100" b="1">
                <a:solidFill>
                  <a:srgbClr val="E2E8F0"/>
                </a:solidFill>
                <a:latin typeface="Calibri"/>
              </a:rPr>
              <a:t>  •  IoT devices:</a:t>
            </a:r>
            <a:r>
              <a:rPr sz="1100">
                <a:solidFill>
                  <a:srgbClr val="94A3B8"/>
                </a:solidFill>
                <a:latin typeface="Calibri"/>
              </a:rPr>
              <a:t> encrypt sensor data without draining battery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E2E8F0"/>
                </a:solidFill>
                <a:latin typeface="Calibri"/>
              </a:rPr>
              <a:t>  •  Secure boot:</a:t>
            </a:r>
            <a:r>
              <a:rPr sz="1100">
                <a:solidFill>
                  <a:srgbClr val="94A3B8"/>
                </a:solidFill>
                <a:latin typeface="Calibri"/>
              </a:rPr>
              <a:t> verify firmware signatures faster at startup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E2E8F0"/>
                </a:solidFill>
                <a:latin typeface="Calibri"/>
              </a:rPr>
              <a:t>  •  TLS 1.3:</a:t>
            </a:r>
            <a:r>
              <a:rPr sz="1100">
                <a:solidFill>
                  <a:srgbClr val="94A3B8"/>
                </a:solidFill>
                <a:latin typeface="Calibri"/>
              </a:rPr>
              <a:t> ChaCha20-Poly1305 is the default cipher for mobile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26% fewer cycles = proportionally lower energy per packet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5029200"/>
            <a:ext cx="36576" cy="822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69480" y="5029200"/>
            <a:ext cx="4343400" cy="822960"/>
          </a:xfrm>
          <a:prstGeom prst="roundRect">
            <a:avLst/>
          </a:prstGeom>
          <a:solidFill>
            <a:srgbClr val="1028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Hardware cost: 1 extra ALU case (1 line of Verilog) + 1 opcode decode entry. Minimal area overhead for 1.35x crypto speedup.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035040"/>
            <a:ext cx="36576" cy="4572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6035040"/>
            <a:ext cx="11018519" cy="4572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VERIFIED: Both software and hardware versions produce identical ciphertext output. Custom ROL is fully compatible with existing pipeline &amp; forwarding.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463040" cy="292608"/>
          </a:xfrm>
          <a:prstGeom prst="roundRect">
            <a:avLst/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Calibri"/>
              </a:rPr>
              <a:t>Summary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7315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400" b="1">
                <a:solidFill>
                  <a:srgbClr val="60A5FA"/>
                </a:solidFill>
                <a:latin typeface="Calibri"/>
              </a:rPr>
              <a:t>What We Built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Complete RV32I processor with 37 + 1 custom instruction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5-stage pipeline (IF/ID/EX/MEM/WB) in Verilog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9 hardware modules, 675 lines of synthesizable RTL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Full forwarding unit with 3 bypass paths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Custom ROL instruction for crypto acceleration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5 testbenches with comprehensive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79" y="1371600"/>
            <a:ext cx="54864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400" b="1">
                <a:solidFill>
                  <a:srgbClr val="34D399"/>
                </a:solidFill>
                <a:latin typeface="Calibri"/>
              </a:rPr>
              <a:t>Key Results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CPI = 1.14 on Fibonacci (close to ideal 1.0)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4.4x throughput over single-cycle baseline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0 data stalls — forwarding handles all RAW hazards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87.7% pipeline efficiency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1.35x crypto speedup with custom ROL instruction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26% cycle reduction on ChaCha20 quarter-round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54864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400" b="1">
                <a:solidFill>
                  <a:srgbClr val="FB923C"/>
                </a:solidFill>
                <a:latin typeface="Calibri"/>
              </a:rPr>
              <a:t>Key Takeaways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Forwarding is essential — without it CPI would be 1.6-2.0x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Branch penalties are the dominant overhead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Performance counters are critical for analysis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Custom ISA extensions give measurable speedup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3840480"/>
            <a:ext cx="54864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400" b="1">
                <a:solidFill>
                  <a:srgbClr val="A78BFA"/>
                </a:solidFill>
                <a:latin typeface="Calibri"/>
              </a:rPr>
              <a:t>Future Enhancements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Branch predictor — reduce 2-cycle penalty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Cache hierarchy — L1 I-cache + D-cache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RV32M extension — multiply/divide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More Zbkb crypto ops — ROR, ANDN, pack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FPGA synthesis — deploy on real hardware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  •  Full ChaCha20 block — 20 rounds, 256-bit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2179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60A5FA"/>
                </a:solidFill>
                <a:latin typeface="Calibri"/>
              </a:rPr>
              <a:t>Thank You</a:t>
            </a:r>
          </a:p>
          <a:p>
            <a:pPr algn="ctr"/>
            <a:r>
              <a:rPr sz="1100">
                <a:solidFill>
                  <a:srgbClr val="94A3B8"/>
                </a:solidFill>
                <a:latin typeface="Calibri"/>
              </a:rPr>
              <a:t>Adesh Pandey · Aayush Gelal · Bishesh Paudel  |  Pulchowk Campus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